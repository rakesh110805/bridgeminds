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8" r:id="rId10"/>
    <p:sldId id="269" r:id="rId11"/>
    <p:sldId id="270" r:id="rId12"/>
    <p:sldId id="262" r:id="rId13"/>
    <p:sldId id="263" r:id="rId14"/>
    <p:sldId id="264" r:id="rId15"/>
    <p:sldId id="265" r:id="rId1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012" y="200145"/>
            <a:ext cx="696912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27079" y="1631696"/>
            <a:ext cx="5942330" cy="1868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37041" y="6466776"/>
            <a:ext cx="2432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ml/datasets" TargetMode="External"/><Relationship Id="rId2" Type="http://schemas.openxmlformats.org/officeDocument/2006/relationships/hyperlink" Target="https://www.kaggle.com/datasets/itachi9604/disease-symptom-description-dataset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sciencedirect.com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8702" y="1204976"/>
            <a:ext cx="22472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imes New Roman"/>
                <a:cs typeface="Times New Roman"/>
              </a:rPr>
              <a:t>Department</a:t>
            </a:r>
            <a:r>
              <a:rPr b="1" spc="-145" dirty="0">
                <a:latin typeface="Times New Roman"/>
                <a:cs typeface="Times New Roman"/>
              </a:rPr>
              <a:t> </a:t>
            </a:r>
            <a:r>
              <a:rPr b="1" spc="-25" dirty="0">
                <a:latin typeface="Times New Roman"/>
                <a:cs typeface="Times New Roman"/>
              </a:rPr>
              <a:t>of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7078" y="1631697"/>
            <a:ext cx="6092921" cy="2121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Artificial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Intelligence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and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Data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Science</a:t>
            </a:r>
            <a:endParaRPr sz="2800" dirty="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  <a:spcBef>
                <a:spcPts val="2205"/>
              </a:spcBef>
            </a:pPr>
            <a:r>
              <a:rPr sz="1800" dirty="0">
                <a:latin typeface="Times New Roman"/>
                <a:cs typeface="Times New Roman"/>
              </a:rPr>
              <a:t>Mini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Project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–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Review</a:t>
            </a:r>
            <a:r>
              <a:rPr sz="1800" spc="-50" dirty="0">
                <a:latin typeface="Times New Roman"/>
                <a:cs typeface="Times New Roman"/>
              </a:rPr>
              <a:t> I</a:t>
            </a:r>
            <a:endParaRPr lang="en-US" sz="1800" spc="-50" dirty="0">
              <a:latin typeface="Times New Roman"/>
              <a:cs typeface="Times New Roman"/>
            </a:endParaRPr>
          </a:p>
          <a:p>
            <a:pPr marL="5080" algn="ctr">
              <a:lnSpc>
                <a:spcPct val="100000"/>
              </a:lnSpc>
              <a:spcBef>
                <a:spcPts val="2205"/>
              </a:spcBef>
            </a:pPr>
            <a:r>
              <a:rPr lang="en-IN" spc="-50" dirty="0">
                <a:latin typeface="Times New Roman"/>
                <a:cs typeface="Times New Roman"/>
              </a:rPr>
              <a:t>TITLE</a:t>
            </a:r>
          </a:p>
          <a:p>
            <a:pPr marL="5080" algn="ctr">
              <a:lnSpc>
                <a:spcPct val="100000"/>
              </a:lnSpc>
              <a:spcBef>
                <a:spcPts val="2205"/>
              </a:spcBef>
            </a:pPr>
            <a:r>
              <a:rPr lang="en-IN" b="1" spc="-50" dirty="0">
                <a:latin typeface="Times New Roman"/>
                <a:cs typeface="Times New Roman"/>
              </a:rPr>
              <a:t>CAREMIND :HEALTHCARE AUTOMATION </a:t>
            </a:r>
            <a:endParaRPr sz="1800" b="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4600" y="4627060"/>
            <a:ext cx="2072005" cy="151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latin typeface="Times New Roman"/>
                <a:cs typeface="Times New Roman"/>
              </a:rPr>
              <a:t>Guided by,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Mr.A.Mathan</a:t>
            </a: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Kumar,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AI&amp;DS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dirty="0">
                <a:latin typeface="Times New Roman"/>
                <a:cs typeface="Times New Roman"/>
              </a:rPr>
              <a:t>
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67735" y="3733800"/>
            <a:ext cx="22085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787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Batch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No:</a:t>
            </a:r>
            <a:r>
              <a:rPr lang="en-US" sz="2400" dirty="0">
                <a:latin typeface="Times New Roman"/>
                <a:cs typeface="Times New Roman"/>
              </a:rPr>
              <a:t>12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611" y="4435982"/>
            <a:ext cx="6224589" cy="22749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Members:</a:t>
            </a: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160"/>
              </a:lnSpc>
            </a:pPr>
            <a:r>
              <a:rPr lang="en-US" sz="1600" spc="-7" dirty="0">
                <a:latin typeface="Times New Roman"/>
                <a:ea typeface="Times New Roman"/>
                <a:cs typeface="Times New Roman"/>
                <a:sym typeface="Times New Roman"/>
              </a:rPr>
              <a:t>RAKESH B-113123UG08081</a:t>
            </a:r>
          </a:p>
          <a:p>
            <a:pPr algn="l">
              <a:lnSpc>
                <a:spcPts val="2160"/>
              </a:lnSpc>
            </a:pPr>
            <a:r>
              <a:rPr lang="en-US" sz="1600" spc="-7" dirty="0">
                <a:latin typeface="Times New Roman"/>
                <a:ea typeface="Times New Roman"/>
                <a:cs typeface="Times New Roman"/>
                <a:sym typeface="Times New Roman"/>
              </a:rPr>
              <a:t>SUGAN SELVA S-113123UG08108</a:t>
            </a:r>
          </a:p>
          <a:p>
            <a:pPr algn="l">
              <a:lnSpc>
                <a:spcPts val="2160"/>
              </a:lnSpc>
            </a:pPr>
            <a:r>
              <a:rPr lang="en-US" sz="1600" spc="-7" dirty="0">
                <a:latin typeface="Times New Roman"/>
                <a:ea typeface="Times New Roman"/>
                <a:cs typeface="Times New Roman"/>
                <a:sym typeface="Times New Roman"/>
              </a:rPr>
              <a:t>SARAVANAN S-113123UG08094</a:t>
            </a:r>
          </a:p>
          <a:p>
            <a:pPr algn="l">
              <a:lnSpc>
                <a:spcPts val="2160"/>
              </a:lnSpc>
            </a:pPr>
            <a:r>
              <a:rPr lang="en-US" sz="1600" spc="-7" dirty="0">
                <a:latin typeface="Times New Roman"/>
                <a:ea typeface="Times New Roman"/>
                <a:cs typeface="Times New Roman"/>
                <a:sym typeface="Times New Roman"/>
              </a:rPr>
              <a:t>SYAM DHARSHAN-113123UG08111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7425" y="158750"/>
            <a:ext cx="4532328" cy="885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588" y="158750"/>
            <a:ext cx="1009649" cy="10221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972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E45B40-868A-CC6A-D54A-2ECB5F50118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3206" y="923365"/>
            <a:ext cx="863758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qualified doctors in rural areas leads to frequent misdiagnosis and delayed treatment of serious diseases.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CareMind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healthcare automation system designed for early disease detection and clinical decision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collects patient symptoms, medical history, and symptom progression through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mobile or web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models analyze clinical data to predict diseases with confidence scores.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confidence-based referral mechanism ensures timely specialist consultation and patient safety.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provides transparent diagnosis by highlighting key symptoms influencing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AI-assisted prescription guidance, a healthcare chatbot, and offline support for rural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281" rIns="0" bIns="0" rtlCol="0">
            <a:spAutoFit/>
          </a:bodyPr>
          <a:lstStyle/>
          <a:p>
            <a:pPr marL="35858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5FADC0-605F-E431-748D-612D774329B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7004" y="1495843"/>
            <a:ext cx="8662195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healthcare automation application for early and accurate disease diagnosis.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assist healthcare workers in rural and resource-limited areas with clinical decision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patient symptoms, medical history, and progression data using ML/DL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confidence-based diagnosis and recommend specialist referrals when necessary.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transparent and trustworthy predictions using Explainable AI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offer safe, AI-assisted prescription and preventive healthcare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patient interaction and awareness through an intelligent healthcare chatbot.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262" rIns="0" bIns="0" rtlCol="0">
            <a:spAutoFit/>
          </a:bodyPr>
          <a:lstStyle/>
          <a:p>
            <a:pPr marL="3089910">
              <a:lnSpc>
                <a:spcPct val="100000"/>
              </a:lnSpc>
              <a:spcBef>
                <a:spcPts val="100"/>
              </a:spcBef>
            </a:pPr>
            <a:r>
              <a:rPr dirty="0"/>
              <a:t>Existing </a:t>
            </a:r>
            <a:r>
              <a:rPr spc="-10" dirty="0"/>
              <a:t>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F6EE6-9ECC-81EC-C82B-0AA5BF1A6834}"/>
              </a:ext>
            </a:extLst>
          </p:cNvPr>
          <p:cNvSpPr txBox="1"/>
          <p:nvPr/>
        </p:nvSpPr>
        <p:spPr>
          <a:xfrm>
            <a:off x="304800" y="990600"/>
            <a:ext cx="8686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diagnosis in rural areas is largely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and symptom-based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relying on limited clinical expertise.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Serious diseases are often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misdiagnosed as common fever or viral infections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lack of diagnostic support.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records are maintained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or in isolated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poor data continuity.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intelligent decision support system is available to assist healthcare workers during diagnosis.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Referrals to specialists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usually occurring only after the condition worsens.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transparency, preventive guidance, and real-time patient interaction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physical visits increases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time, cost, and risk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13F6B0-2EAD-070E-27FE-8FC53103C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11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31680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Disadvantages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21BFFF-C901-D32B-E07A-BA584DB6538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53131" y="1582340"/>
            <a:ext cx="76962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Diagnosis is based mainly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symptoms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frequent misdiagnosis.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Serious diseases such as TB are often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at later stages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decision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healthcare workers.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keeping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causes data loss and inconsistency.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confidence or risk assessment during diagnosis.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preventive care and routine health guidance.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repeated physical visits, increasing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and cost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patients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5021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05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468523-DB44-3155-B1CC-0D01F4B3360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4012" y="921606"/>
            <a:ext cx="8561388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CareMind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healthcare automation system for early disease diagnosis and clinical decision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symptoms, medical history, and progression data are collected through a mobile or web application.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Deep Learning models analyze the data to predict diseases with confidence scores.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confidence-based referral mechanism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recommends specialist consultation when diagnostic certainty is 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transparent diagnosis by highlighting key symptoms influencing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AI-assisted prescription guidance with safety validation helps prevent unsafe medication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an AI chatbot, preventive care guidance, and offline support for rural environments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8EFED1-C1C0-E248-A8F6-FCE216737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762000"/>
            <a:ext cx="6858000" cy="599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335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8AA5E-1714-DEF7-D760-4DB2E4575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9144000" cy="556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7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A8001C-261D-236D-22F5-FA133F33F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9144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933021-F1A4-6258-16F4-AA0922782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91440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705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Comparison</a:t>
            </a:r>
            <a:r>
              <a:rPr spc="-3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Proposed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Existing</a:t>
            </a:r>
            <a:r>
              <a:rPr spc="-25" dirty="0"/>
              <a:t> </a:t>
            </a:r>
            <a:r>
              <a:rPr spc="-10" dirty="0"/>
              <a:t>method(s)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465FA-8500-9AA7-7729-D47113D1BB48}"/>
              </a:ext>
            </a:extLst>
          </p:cNvPr>
          <p:cNvSpPr txBox="1"/>
          <p:nvPr/>
        </p:nvSpPr>
        <p:spPr>
          <a:xfrm>
            <a:off x="1828800" y="2438400"/>
            <a:ext cx="5257800" cy="297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255FD6B-A4BC-380B-6925-D4B440F092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836433"/>
              </p:ext>
            </p:extLst>
          </p:nvPr>
        </p:nvGraphicFramePr>
        <p:xfrm>
          <a:off x="533400" y="247498"/>
          <a:ext cx="7391402" cy="6460110"/>
        </p:xfrm>
        <a:graphic>
          <a:graphicData uri="http://schemas.openxmlformats.org/drawingml/2006/table">
            <a:tbl>
              <a:tblPr/>
              <a:tblGrid>
                <a:gridCol w="2215135">
                  <a:extLst>
                    <a:ext uri="{9D8B030D-6E8A-4147-A177-3AD203B41FA5}">
                      <a16:colId xmlns:a16="http://schemas.microsoft.com/office/drawing/2014/main" val="3955424697"/>
                    </a:ext>
                  </a:extLst>
                </a:gridCol>
                <a:gridCol w="1899665">
                  <a:extLst>
                    <a:ext uri="{9D8B030D-6E8A-4147-A177-3AD203B41FA5}">
                      <a16:colId xmlns:a16="http://schemas.microsoft.com/office/drawing/2014/main" val="4111707388"/>
                    </a:ext>
                  </a:extLst>
                </a:gridCol>
                <a:gridCol w="3276602">
                  <a:extLst>
                    <a:ext uri="{9D8B030D-6E8A-4147-A177-3AD203B41FA5}">
                      <a16:colId xmlns:a16="http://schemas.microsoft.com/office/drawing/2014/main" val="3423416523"/>
                    </a:ext>
                  </a:extLst>
                </a:gridCol>
              </a:tblGrid>
              <a:tr h="14368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Method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Method (</a:t>
                      </a:r>
                      <a:r>
                        <a:rPr lang="en-IN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CareMind</a:t>
                      </a: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97220"/>
                  </a:ext>
                </a:extLst>
              </a:tr>
              <a:tr h="37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Diagnosis Approach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Manual, symptom-based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AI-assisted, data-driven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391631"/>
                  </a:ext>
                </a:extLst>
              </a:tr>
              <a:tr h="37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doctor experience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ML/DL-based prediction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871543"/>
                  </a:ext>
                </a:extLst>
              </a:tr>
              <a:tr h="687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Disease Detection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Enabled via symptom progression analysis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443797"/>
                  </a:ext>
                </a:extLst>
              </a:tr>
              <a:tr h="37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Support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available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clinical decision support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46985"/>
                  </a:ext>
                </a:extLst>
              </a:tr>
              <a:tr h="37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Transparency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explanation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 (XAI)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497310"/>
                  </a:ext>
                </a:extLst>
              </a:tr>
              <a:tr h="37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Referral Process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Confidence-based referral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143867"/>
                  </a:ext>
                </a:extLst>
              </a:tr>
              <a:tr h="37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Prescription Safety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AI-assisted with safety validation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367883"/>
                  </a:ext>
                </a:extLst>
              </a:tr>
              <a:tr h="37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Interaction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visits only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chatbot &amp; digital guidance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209875"/>
                  </a:ext>
                </a:extLst>
              </a:tr>
              <a:tr h="37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Management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or isolated records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digital records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257179"/>
                  </a:ext>
                </a:extLst>
              </a:tr>
              <a:tr h="370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 Accessibility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&amp; doctor dependent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Offline-first support</a:t>
                      </a:r>
                    </a:p>
                  </a:txBody>
                  <a:tcPr marL="22512" marR="22512" marT="11256" marB="112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31463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1400" y="257547"/>
            <a:ext cx="17037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8799F0-1982-FB4D-E27E-23D1CB0ABFA7}"/>
              </a:ext>
            </a:extLst>
          </p:cNvPr>
          <p:cNvSpPr txBox="1"/>
          <p:nvPr/>
        </p:nvSpPr>
        <p:spPr>
          <a:xfrm>
            <a:off x="1209435" y="1371600"/>
            <a:ext cx="7010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and accurate disease diagnosis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AI models.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misdiagnosis through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and confidence-based decisions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rural healthcare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functionality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outputs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increasing trust and transparency.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safer treatment through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prescription validation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patient awareness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preventive care and routine guidance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accessibility via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for instant interaction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218" rIns="0" bIns="0" rtlCol="0">
            <a:spAutoFit/>
          </a:bodyPr>
          <a:lstStyle/>
          <a:p>
            <a:pPr marL="33553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0B06FA-DCD0-8449-4EE0-FDCA167DF94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0883" y="1200364"/>
            <a:ext cx="8610600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(WHO),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Tuberculosis Diagnosis and Treatment Guidelines.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https://www.who.int/teams/global-tuberculosis-programme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Disease Symptom Prediction Dataset.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https://www.kaggle.com/datasets/itachi9604/disease-symptom-description-dataset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UCI Machine Learning Repository,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and Healthcare Datasets.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https://archive.ics.uci.edu/ml/datasets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S. Kumar et al.,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Clinical Decision Support Systems in Healthcare,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IEEE Access, 2024.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https://ieeexplore.ieee.org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Z. Chen et al.,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Artificial Intelligence for Medical Diagnosis,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Applications, Elsevier, 2022.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https://www.sciencedirect.com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Wang et al.,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Techniques for Disease Prediction,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Medical Informatics, 2023.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353" y="2803951"/>
            <a:ext cx="3966845" cy="830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250" dirty="0"/>
              <a:t>THANK</a:t>
            </a:r>
            <a:r>
              <a:rPr sz="5250" spc="-210" dirty="0"/>
              <a:t> </a:t>
            </a:r>
            <a:r>
              <a:rPr sz="5250" spc="-25" dirty="0"/>
              <a:t>YOU</a:t>
            </a:r>
            <a:endParaRPr sz="5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874</Words>
  <Application>Microsoft Office PowerPoint</Application>
  <PresentationFormat>On-screen Show (4:3)</PresentationFormat>
  <Paragraphs>153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Department of</vt:lpstr>
      <vt:lpstr>Abstract</vt:lpstr>
      <vt:lpstr>Objective</vt:lpstr>
      <vt:lpstr>Existing System</vt:lpstr>
      <vt:lpstr>PowerPoint Presentation</vt:lpstr>
      <vt:lpstr>Disadvantages</vt:lpstr>
      <vt:lpstr>Proposed system</vt:lpstr>
      <vt:lpstr>PowerPoint Presentation</vt:lpstr>
      <vt:lpstr>PowerPoint Presentation</vt:lpstr>
      <vt:lpstr>PowerPoint Presentation</vt:lpstr>
      <vt:lpstr>PowerPoint Presentation</vt:lpstr>
      <vt:lpstr>Comparison of Proposed and Existing method(s)</vt:lpstr>
      <vt:lpstr>Advantages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PPT Sample Format Review-1-1.pptx</dc:title>
  <dc:creator>Rakesh B</dc:creator>
  <cp:lastModifiedBy>Rakesh B</cp:lastModifiedBy>
  <cp:revision>6</cp:revision>
  <dcterms:created xsi:type="dcterms:W3CDTF">2025-03-26T12:10:32Z</dcterms:created>
  <dcterms:modified xsi:type="dcterms:W3CDTF">2026-02-04T16:45:27Z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